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1430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D98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SPEC-DRIVEN DEVELOPMENT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5544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规格驱动开发实战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6D3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与人都读同一份事实源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8680" y="3310128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B6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OneSystem ERP 仓库为例：62 份规格 · P1–P10 阶段 · 后端 1000+ 单测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2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AGENTS.md §2 规格驱动开发（SDD）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0" y="2194560"/>
            <a:ext cx="3931920" cy="566928"/>
          </a:xfrm>
          <a:prstGeom prst="rect">
            <a:avLst/>
          </a:prstGeom>
          <a:solidFill>
            <a:srgbClr val="1B2C46"/>
          </a:solidFill>
          <a:ln/>
        </p:spPr>
      </p:sp>
      <p:sp>
        <p:nvSpPr>
          <p:cNvPr id="9" name="Shape 7"/>
          <p:cNvSpPr/>
          <p:nvPr/>
        </p:nvSpPr>
        <p:spPr>
          <a:xfrm>
            <a:off x="7818120" y="2404872"/>
            <a:ext cx="146304" cy="146304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21945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0" y="3017520"/>
            <a:ext cx="3931920" cy="566928"/>
          </a:xfrm>
          <a:prstGeom prst="rect">
            <a:avLst/>
          </a:prstGeom>
          <a:solidFill>
            <a:srgbClr val="1B2C46"/>
          </a:solidFill>
          <a:ln/>
        </p:spPr>
      </p:sp>
      <p:sp>
        <p:nvSpPr>
          <p:cNvPr id="12" name="Shape 10"/>
          <p:cNvSpPr/>
          <p:nvPr/>
        </p:nvSpPr>
        <p:spPr>
          <a:xfrm>
            <a:off x="7818120" y="3227832"/>
            <a:ext cx="146304" cy="146304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30175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specs/028-erp-rbac/design.md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3840480"/>
            <a:ext cx="3931920" cy="566928"/>
          </a:xfrm>
          <a:prstGeom prst="rect">
            <a:avLst/>
          </a:prstGeom>
          <a:solidFill>
            <a:srgbClr val="1B2C46"/>
          </a:solidFill>
          <a:ln/>
        </p:spPr>
      </p:sp>
      <p:sp>
        <p:nvSpPr>
          <p:cNvPr id="15" name="Shape 13"/>
          <p:cNvSpPr/>
          <p:nvPr/>
        </p:nvSpPr>
        <p:spPr>
          <a:xfrm>
            <a:off x="7818120" y="4050792"/>
            <a:ext cx="146304" cy="146304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38404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.codebuddy/rules/backend/RULE.mdc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0" y="4663440"/>
            <a:ext cx="3931920" cy="566928"/>
          </a:xfrm>
          <a:prstGeom prst="rect">
            <a:avLst/>
          </a:prstGeom>
          <a:solidFill>
            <a:srgbClr val="1B2C46"/>
          </a:solidFill>
          <a:ln/>
        </p:spPr>
      </p:sp>
      <p:sp>
        <p:nvSpPr>
          <p:cNvPr id="18" name="Shape 16"/>
          <p:cNvSpPr/>
          <p:nvPr/>
        </p:nvSpPr>
        <p:spPr>
          <a:xfrm>
            <a:off x="7818120" y="4873752"/>
            <a:ext cx="146304" cy="146304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46634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.codebuddy/CONTEXT.md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为什么先写规格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写代码快，写错也快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68580" cy="1600200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029968"/>
            <a:ext cx="384048" cy="384048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536192" y="2011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上下文会丢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36192" y="25146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需求只活在对话里，新会话从零开始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303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737360"/>
            <a:ext cx="68580" cy="1600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960" y="2029968"/>
            <a:ext cx="384048" cy="3840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14032" y="2011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决策会漂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114032" y="25146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同一约定两处各写一套：契约漂移、撞码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5303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611880"/>
            <a:ext cx="68580" cy="1600200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" y="3904488"/>
            <a:ext cx="384048" cy="384048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36192" y="3886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约定靠记忆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536192" y="43891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契约与命名每次重新发明，风格随会话波动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3611880"/>
            <a:ext cx="5303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3611880"/>
            <a:ext cx="68580" cy="1600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4" name="Shape 22"/>
          <p:cNvSpPr/>
          <p:nvPr/>
        </p:nvSpPr>
        <p:spPr>
          <a:xfrm>
            <a:off x="6537960" y="3904488"/>
            <a:ext cx="384048" cy="3840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114032" y="3886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完成无标准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114032" y="43891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没有验收标准，「看起来做完了」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54864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98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把「约定」与「需求」落成文件</a:t>
            </a:r>
            <a:pPr algn="ctr" indent="0" marL="0">
              <a:buNone/>
            </a:pPr>
            <a:r>
              <a:rPr lang="en-US" sz="1450" dirty="0">
                <a:solidFill>
                  <a:srgbClr val="DCE5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每次开工都读同一份事实源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三层事实源 + 一份结构快照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68580" cy="8046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37360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92040" y="1737360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工程约定唯一事实源：统一响应 §4、分页 §4.3、认证 §4.6、测试门槛 §6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10881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816352"/>
            <a:ext cx="68580" cy="8046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81635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specs/&lt;序号&gt;-&lt;feature&gt;/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2816352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功能需求唯一事实源：requirement / design / tasks 三件套（序号即实现顺序）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10881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895344"/>
            <a:ext cx="68580" cy="804672"/>
          </a:xfrm>
          <a:prstGeom prst="rect">
            <a:avLst/>
          </a:prstGeom>
          <a:solidFill>
            <a:srgbClr val="2F6D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895344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D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.codebuddy/rules/&lt;端&gt;/RULE.mdc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895344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专项落地细则：后端分层与用例组织、前端目录与组件约定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74336"/>
            <a:ext cx="10881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974336"/>
            <a:ext cx="68580" cy="804672"/>
          </a:xfrm>
          <a:prstGeom prst="rect">
            <a:avLst/>
          </a:prstGeom>
          <a:solidFill>
            <a:srgbClr val="9C6210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974336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2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.codebuddy/CONTEXT.md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4974336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项目结构快照：位置与命名规律，替代「实现前全仓代码探索」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规则不复制规格正文，规格不复制规则正文 —— 只能指针（AGENTS.md §10）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规格三件套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一个功能一个目录，固定三个文件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44545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68580" cy="2606040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requirement.md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62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需求规格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背景：现状与风险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目标：可度量的目标清单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 F1–Fn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验收标准：怎么算做完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范围外（明确不做）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8670" y="1737360"/>
            <a:ext cx="3444545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8670" y="1737360"/>
            <a:ext cx="68580" cy="2606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4651278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design.md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51278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设计规格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78710" y="2606040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设计：接口与契约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数据模型：实体与迁移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前端交互：页面与状态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技术决策 §0 约定正文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唯一事实源：明细类清单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77261" y="1737360"/>
            <a:ext cx="3444545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77261" y="1737360"/>
            <a:ext cx="68580" cy="2606040"/>
          </a:xfrm>
          <a:prstGeom prst="rect">
            <a:avLst/>
          </a:prstGeom>
          <a:solidFill>
            <a:srgbClr val="2F6D93"/>
          </a:solidFill>
          <a:ln/>
        </p:spPr>
      </p:sp>
      <p:sp>
        <p:nvSpPr>
          <p:cNvPr id="16" name="Text 14"/>
          <p:cNvSpPr/>
          <p:nvPr/>
        </p:nvSpPr>
        <p:spPr>
          <a:xfrm>
            <a:off x="8369869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tasks.md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9869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D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任务清单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97301" y="2606040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可勾选：- [ ] 任务项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拆到可执行粒度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按阶段推进、分段验证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全部勾选即功能完成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 / 合并不列入待办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4754880" cy="14630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7548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7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D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8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2026-09-17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D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8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2026-10-07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7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760720" y="47091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三文件顶部一律带 YAML frontmatter（§2.5）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created = updated = 当日，三处取值一致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updated 只记需求 / 决策实质变化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六步：需求 → 设计 → 任务 → 实现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57276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68580" cy="1645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38528"/>
            <a:ext cx="36576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需求先行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写需求规格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01798" y="1737360"/>
            <a:ext cx="157276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01798" y="1737360"/>
            <a:ext cx="68580" cy="1645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Shape 10"/>
          <p:cNvSpPr/>
          <p:nvPr/>
        </p:nvSpPr>
        <p:spPr>
          <a:xfrm>
            <a:off x="2684678" y="1938528"/>
            <a:ext cx="36576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3" name="Text 11"/>
          <p:cNvSpPr/>
          <p:nvPr/>
        </p:nvSpPr>
        <p:spPr>
          <a:xfrm>
            <a:off x="2684678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84678" y="239572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84678" y="27432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写设计规格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63517" y="1737360"/>
            <a:ext cx="157276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63517" y="1737360"/>
            <a:ext cx="68580" cy="1645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8" name="Shape 16"/>
          <p:cNvSpPr/>
          <p:nvPr/>
        </p:nvSpPr>
        <p:spPr>
          <a:xfrm>
            <a:off x="4546397" y="1938528"/>
            <a:ext cx="36576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9" name="Text 17"/>
          <p:cNvSpPr/>
          <p:nvPr/>
        </p:nvSpPr>
        <p:spPr>
          <a:xfrm>
            <a:off x="4546397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46397" y="239572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46397" y="27432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写任务清单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25235" y="1737360"/>
            <a:ext cx="157276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25235" y="1737360"/>
            <a:ext cx="68580" cy="1645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8115" y="1938528"/>
            <a:ext cx="36576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8115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8115" y="239572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8115" y="27432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开工前重读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86954" y="1737360"/>
            <a:ext cx="157276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86954" y="1737360"/>
            <a:ext cx="68580" cy="1645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0" name="Shape 28"/>
          <p:cNvSpPr/>
          <p:nvPr/>
        </p:nvSpPr>
        <p:spPr>
          <a:xfrm>
            <a:off x="8269834" y="1938528"/>
            <a:ext cx="36576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1" name="Text 29"/>
          <p:cNvSpPr/>
          <p:nvPr/>
        </p:nvSpPr>
        <p:spPr>
          <a:xfrm>
            <a:off x="8269834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69834" y="239572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勾选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69834" y="27432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勾选即完成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948672" y="1737360"/>
            <a:ext cx="157276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948672" y="1737360"/>
            <a:ext cx="68580" cy="1645920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31552" y="1938528"/>
            <a:ext cx="365760" cy="365760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37" name="Text 35"/>
          <p:cNvSpPr/>
          <p:nvPr/>
        </p:nvSpPr>
        <p:spPr>
          <a:xfrm>
            <a:off x="10131552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131552" y="239572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131552" y="27432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先改规格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3703320"/>
            <a:ext cx="5303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" y="3703320"/>
            <a:ext cx="68580" cy="17373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顺序是强制的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1005840" y="427939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规格缺失先补规格，不直接写代码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每个任务开工前先重读规格相关章节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全部任务勾选即功能完成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17920" y="3703320"/>
            <a:ext cx="5303520" cy="1737360"/>
          </a:xfrm>
          <a:prstGeom prst="rect">
            <a:avLst/>
          </a:prstGeom>
          <a:solidFill>
            <a:srgbClr val="F6E9D6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7920" y="3703320"/>
            <a:ext cx="68580" cy="1737360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46" name="Text 44"/>
          <p:cNvSpPr/>
          <p:nvPr/>
        </p:nvSpPr>
        <p:spPr>
          <a:xfrm>
            <a:off x="658368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冲突了怎么办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6583680" y="4279392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 ↔ 总则 → 以规格为准，提示核对规格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 ↔ 专项规则 → 以规格为准，修正规则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总则 ↔ 专项规则 → 以总则为准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开发中需求变化：先改规格、再改代码；禁止绕过规格直接改代码（AGENTS.md §2.2）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实现前最小读取集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动手前，只读这几类文件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4008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68580" cy="3794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读什么（按固定顺序）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005840" y="2423160"/>
            <a:ext cx="329184" cy="32918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63040" y="242316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.codebuddy/CONTEXT.md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463040" y="268833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项目结构摘要（替代代码探索）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" y="3172968"/>
            <a:ext cx="329184" cy="32918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63040" y="317296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specs/&lt;序号&gt;-&lt;feature&gt;/design.md + tasks.md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63040" y="3438144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本次任务的需求与设计；新建规格时先读 / 写 requirement.md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3922776"/>
            <a:ext cx="329184" cy="32918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463040" y="392277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.codebuddy/rules/&lt;端&gt;/RULE.mdc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63040" y="418795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对应端的专项规则（backend / frontend）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05840" y="4672584"/>
            <a:ext cx="329184" cy="32918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672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463040" y="467258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仅本次要改动的目标文件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463040" y="49377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含直接调用的既有文件，不做目录级遍历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0" y="1737360"/>
            <a:ext cx="4206240" cy="379476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0" y="1737360"/>
            <a:ext cx="68580" cy="3794760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不做这些事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680960" y="256032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1250" dirty="0">
                <a:solidFill>
                  <a:srgbClr val="D7E0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为「了解项目」做全仓探索</a:t>
            </a:r>
            <a:endParaRPr lang="en-US" sz="125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1250" dirty="0">
                <a:solidFill>
                  <a:srgbClr val="D7E0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目录级遍历、反复翻文件</a:t>
            </a:r>
            <a:endParaRPr lang="en-US" sz="125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1250" dirty="0">
                <a:solidFill>
                  <a:srgbClr val="D7E0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凭记忆猜契约与命名</a:t>
            </a:r>
            <a:endParaRPr lang="en-US" sz="1250" dirty="0"/>
          </a:p>
          <a:p>
            <a:pPr marL="342900" indent="-342900">
              <a:spcAft>
                <a:spcPts val="1800"/>
              </a:spcAft>
              <a:buSzPct val="100000"/>
              <a:buChar char="▪"/>
            </a:pPr>
            <a:r>
              <a:rPr lang="en-US" sz="1250" dirty="0">
                <a:solidFill>
                  <a:srgbClr val="D7E0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绕过 specs 直接写代码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680960" y="4754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省下的上下文，都是实现预算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端内固定读取集见专项规则：前端 §2.1 / 后端 §3.1（AGENTS.md §2.4）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 · 028-erp-rbac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一份规格如何驱动一次改造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44545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68580" cy="3520440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01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requirement.md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221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62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它这样写需求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背景：登录即可见全部菜单与操作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6 条：角色、超管、强制校验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 F1–F8；验收标准 9 条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范围外 7 条：数据级权限、SSO…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8670" y="1737360"/>
            <a:ext cx="3444545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8670" y="1737360"/>
            <a:ext cx="68580" cy="3520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4678710" y="1901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design.md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78710" y="2221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它收成唯一事实源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78710" y="265176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§0 权限点清单 = 唯一事实源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规则：&lt;域&gt;.&lt;动作&gt;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/ 数据模型 / 前端交互 / 决策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新功能在本表续行，未登记不得合并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77261" y="1737360"/>
            <a:ext cx="3444545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77261" y="1737360"/>
            <a:ext cx="68580" cy="3520440"/>
          </a:xfrm>
          <a:prstGeom prst="rect">
            <a:avLst/>
          </a:prstGeom>
          <a:solidFill>
            <a:srgbClr val="2F6D93"/>
          </a:solidFill>
          <a:ln/>
        </p:spPr>
      </p:sp>
      <p:sp>
        <p:nvSpPr>
          <p:cNvPr id="16" name="Text 14"/>
          <p:cNvSpPr/>
          <p:nvPr/>
        </p:nvSpPr>
        <p:spPr>
          <a:xfrm>
            <a:off x="8397301" y="1901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97301" y="2221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D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它拆成可勾选任务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97301" y="265176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拆到可执行粒度，逐项可勾选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按阶段推进，每阶段跑全量测试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 / 合并不列入待办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532120"/>
            <a:ext cx="10881360" cy="6858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5321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2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交付结果：</a:t>
            </a:r>
            <a:pPr algn="ctr" indent="0" marL="0">
              <a:buNone/>
            </a:pPr>
            <a:r>
              <a:rPr lang="en-US" sz="1400" b="1" dirty="0">
                <a:solidFill>
                  <a:srgbClr val="D98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dotnet test 605 通过</a:t>
            </a:r>
            <a:pPr algn="ctr" indent="0" marL="0">
              <a:buNone/>
            </a:pPr>
            <a:r>
              <a:rPr lang="en-US" sz="1400" dirty="0">
                <a:solidFill>
                  <a:srgbClr val="8DA2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ctr" indent="0" marL="0">
              <a:buNone/>
            </a:pPr>
            <a:r>
              <a:rPr lang="en-US" sz="1400" b="1" dirty="0">
                <a:solidFill>
                  <a:srgbClr val="D98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131 通过</a:t>
            </a:r>
            <a:pPr algn="ctr" indent="0" marL="0">
              <a:buNone/>
            </a:pPr>
            <a:r>
              <a:rPr lang="en-US" sz="1400" dirty="0">
                <a:solidFill>
                  <a:srgbClr val="8DA2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ctr" indent="0" marL="0">
              <a:buNone/>
            </a:pPr>
            <a:r>
              <a:rPr lang="en-US" sz="1400" b="1" dirty="0">
                <a:solidFill>
                  <a:srgbClr val="D98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40300 转为生产码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单一事实源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什么写进规格，什么留在规则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743200"/>
                <a:gridCol w="420624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内容类型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写在哪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明细类：阈值表 / 映射表 / 清单 / 示例片段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规格 design.md §0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权限点总表、单号前缀表、菜单分区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判据类：必须遵守什么、违反为何不合格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规则文件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分页上限 100、无权限默认拒绝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需求与决策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specs/&lt;序号&gt;-&lt;feature&gt;/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功能点、验收标准、范围外（不做）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结构导航：位置与命名规律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.codebuddy/CONTEXT.md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目录结构、命名规律、命令与端口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5029200"/>
            <a:ext cx="68580" cy="1188720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502920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8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演进指针：</a:t>
            </a:r>
            <a:pPr indent="0" marL="0">
              <a:buNone/>
            </a:pPr>
            <a:r>
              <a:rPr lang="en-US" sz="1150" dirty="0">
                <a:solidFill>
                  <a:srgbClr val="DCE5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新功能改变既有决策时，双方 design.md 同时改写为最终态，并在文件头部留一行指针（&gt; **演进（改写方）**：…）；被推翻的旧表述一律删除，旧值只查 git 历史（ROADMAP §6.6）。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规格带来的可累积性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44545" cy="178308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3852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98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3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份规格目录（001–063）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58670" y="1737360"/>
            <a:ext cx="3444545" cy="178308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78710" y="193852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98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678710" y="2788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3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个阶段 P1–P10 路线图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77261" y="1737360"/>
            <a:ext cx="3444545" cy="178308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97301" y="193852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98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1000+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397301" y="2788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3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后端单测 · e2e 160+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794760"/>
            <a:ext cx="68580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7947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序号不属于功能名：需要单指功能时一律用 &lt;feature-name&gt;（分支 / 路由 / 功能域）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0881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709160"/>
            <a:ext cx="68580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7091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错误码区间的唯一登记处：ROADMAP §6（当前全局下一个可用 40211）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623560"/>
            <a:ext cx="10881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5623560"/>
            <a:ext cx="68580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56235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单号前缀的唯一来源：ROADMAP §6.7（PO / GR / SO / GI / QT / TR …）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D98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从今天开始：四步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03520" cy="1325880"/>
          </a:xfrm>
          <a:prstGeom prst="rect">
            <a:avLst/>
          </a:prstGeom>
          <a:solidFill>
            <a:srgbClr val="1B2C4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68580" cy="1325880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993392"/>
            <a:ext cx="384048" cy="384048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536192" y="19751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定判据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536192" y="23957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3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API 契约、错误码、分页、测试门槛写进 AGENTS.md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303520" cy="1325880"/>
          </a:xfrm>
          <a:prstGeom prst="rect">
            <a:avLst/>
          </a:prstGeom>
          <a:solidFill>
            <a:srgbClr val="1B2C46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737360"/>
            <a:ext cx="68580" cy="1325880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7960" y="1993392"/>
            <a:ext cx="384048" cy="384048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14032" y="19751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建目录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114032" y="23957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3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每个功能一个 specs/&lt;序号&gt;-&lt;feature&gt;/ 目录，先写三件套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337560"/>
            <a:ext cx="5303520" cy="1325880"/>
          </a:xfrm>
          <a:prstGeom prst="rect">
            <a:avLst/>
          </a:prstGeom>
          <a:solidFill>
            <a:srgbClr val="1B2C46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337560"/>
            <a:ext cx="68580" cy="1325880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3593592"/>
            <a:ext cx="384048" cy="384048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536192" y="35753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限读取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536192" y="3995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3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动手前只读最小集合，禁止为「了解项目」做全仓探索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3337560"/>
            <a:ext cx="5303520" cy="1325880"/>
          </a:xfrm>
          <a:prstGeom prst="rect">
            <a:avLst/>
          </a:prstGeom>
          <a:solidFill>
            <a:srgbClr val="1B2C46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3337560"/>
            <a:ext cx="68580" cy="1325880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960" y="3593592"/>
            <a:ext cx="384048" cy="384048"/>
          </a:xfrm>
          <a:prstGeom prst="rect">
            <a:avLst/>
          </a:prstGeom>
          <a:solidFill>
            <a:srgbClr val="D98F2B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14032" y="35753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先改规格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114032" y="3995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3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需求变了先改 specs 再改代码，规格与代码永远一致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是给 AI 的说明书，也是给团队的记忆。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B6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规格驱动开发（SDD）· 以 OneSystem ERP 仓库为例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规格驱动开发实战</dc:title>
  <dc:subject>PptxGenJS Presentation</dc:subject>
  <dc:creator>OneSystem</dc:creator>
  <cp:lastModifiedBy>OneSystem</cp:lastModifiedBy>
  <cp:revision>1</cp:revision>
  <dcterms:created xsi:type="dcterms:W3CDTF">2026-10-12T08:15:34Z</dcterms:created>
  <dcterms:modified xsi:type="dcterms:W3CDTF">2026-10-12T08:15:34Z</dcterms:modified>
</cp:coreProperties>
</file>